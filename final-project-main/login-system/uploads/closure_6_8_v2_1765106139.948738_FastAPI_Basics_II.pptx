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97" r:id="rId3"/>
    <p:sldId id="298" r:id="rId4"/>
    <p:sldId id="299" r:id="rId5"/>
    <p:sldId id="295" r:id="rId6"/>
    <p:sldId id="296" r:id="rId7"/>
    <p:sldId id="279" r:id="rId8"/>
    <p:sldId id="290" r:id="rId9"/>
    <p:sldId id="287" r:id="rId10"/>
    <p:sldId id="300" r:id="rId11"/>
    <p:sldId id="291" r:id="rId12"/>
    <p:sldId id="281" r:id="rId13"/>
    <p:sldId id="288" r:id="rId1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307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73A87-8EC3-40C8-BDCE-BA621B0C3DC1}" type="datetimeFigureOut">
              <a:rPr lang="zh-TW" altLang="en-US" smtClean="0"/>
              <a:t>2025/9/22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FB3833-6E56-4C30-8BF2-A26CEAE4A6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8592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931093-5A1C-4A50-A028-66C5234987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0E90CD3-755F-4251-9194-CD103617E8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21BB713-B095-4F2C-B6AF-D7539299B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49ACD-3308-4178-9D36-0768B0F04862}" type="datetimeFigureOut">
              <a:rPr lang="zh-TW" altLang="en-US" smtClean="0"/>
              <a:t>2025/9/22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6E9FAF5-ADE4-4987-AD7F-78D97FCF4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1E8D94A-2982-4F31-AE2D-C7CDBEBA6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E64EE-6418-4048-A30C-D303CA5A886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2497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C8D699-83C6-47DC-8A1E-3A36601CD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A094D3B-C75C-4537-8153-014311327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DDA3663-A423-4CF0-8B10-C6D5B17A5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49ACD-3308-4178-9D36-0768B0F04862}" type="datetimeFigureOut">
              <a:rPr lang="zh-TW" altLang="en-US" smtClean="0"/>
              <a:t>2025/9/22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6D3163C-AD76-4FFC-A0D6-7C47D6E1A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316D405-E986-4F47-A8B1-3643CBAE4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E64EE-6418-4048-A30C-D303CA5A886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9203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F87DB2-B6DC-41CB-94BD-16201D6ED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FDA9DC3-70E3-44CC-A781-98E94C812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81A0343-A41E-4A4A-BDB6-A77CEFEC6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49ACD-3308-4178-9D36-0768B0F04862}" type="datetimeFigureOut">
              <a:rPr lang="zh-TW" altLang="en-US" smtClean="0"/>
              <a:t>2025/9/22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7CAADD1-A449-407F-AA81-EA0769C18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64EB246-E803-4E5E-AA1A-34E0219E8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E64EE-6418-4048-A30C-D303CA5A886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4106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8032A4-B808-4AFC-BBAF-249572FF5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96F5146-7B06-4A5F-855F-F3662553D9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EAED4B4-C1F2-414F-9EC6-BEC52EC33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134C20A-CD30-48D5-A8C5-498A5A44B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49ACD-3308-4178-9D36-0768B0F04862}" type="datetimeFigureOut">
              <a:rPr lang="zh-TW" altLang="en-US" smtClean="0"/>
              <a:t>2025/9/22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ED5DD47-B22D-4DB9-BB97-28939C57B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F0A4BA0-FB20-43BA-8DA3-EA1C902AB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E64EE-6418-4048-A30C-D303CA5A886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9910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3AC534-0E02-4981-AB08-F70B91114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4A3D166-E9BB-4857-BDA9-C8A179C526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BD68EB3-C4AD-44BF-90BD-4433CCECB6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41F5A8F-6234-4627-924F-51C924D754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C3811FE-180B-4A7B-A6C3-10AEF14E62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ECA4034-7317-4632-8426-8EDAE5ACA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49ACD-3308-4178-9D36-0768B0F04862}" type="datetimeFigureOut">
              <a:rPr lang="zh-TW" altLang="en-US" smtClean="0"/>
              <a:t>2025/9/22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F750F06-7413-4949-AD8E-90C3CBD0A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46D36AF-0107-4206-A5C0-480BF8C7D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E64EE-6418-4048-A30C-D303CA5A886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9775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52FE2C-C828-49A4-8A75-3849B33EF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E344CA6-358E-4F45-8957-821127572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49ACD-3308-4178-9D36-0768B0F04862}" type="datetimeFigureOut">
              <a:rPr lang="zh-TW" altLang="en-US" smtClean="0"/>
              <a:t>2025/9/22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8548216-EC57-48C4-AC04-10CBEA36F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EFF3BE9-7A7E-4C23-BFF7-E76D6FE88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E64EE-6418-4048-A30C-D303CA5A886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8202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F638242-46BE-4063-8FB0-5DB58C82C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49ACD-3308-4178-9D36-0768B0F04862}" type="datetimeFigureOut">
              <a:rPr lang="zh-TW" altLang="en-US" smtClean="0"/>
              <a:t>2025/9/22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096EB80-4F23-413E-A9A4-0E6D671E1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A72242A-4DC8-4092-94F5-37AEC831E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E64EE-6418-4048-A30C-D303CA5A886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5195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F1FE70-298F-4630-9C51-0DE6B184C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90180DB-543B-4B21-89B4-B18B5DF7F3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47495C1-6FC9-4B8C-BCCE-B92B976DDE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D15DA81-4BA0-42D8-A59F-71611DB5D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49ACD-3308-4178-9D36-0768B0F04862}" type="datetimeFigureOut">
              <a:rPr lang="zh-TW" altLang="en-US" smtClean="0"/>
              <a:t>2025/9/22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34CFD9F-9010-454D-A403-A41CD48A7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DC7D37D-875A-4530-817E-05D64A6F4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E64EE-6418-4048-A30C-D303CA5A886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3332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AEFBE0-EF02-403C-81B2-393A4DF3E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32BCF5B-6E00-44EE-9BCA-F790BD4ACE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7040F7C-BB90-410C-B02B-00BB8FFACA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8A117E1-85B9-4D46-B8F7-4EF4B9C5F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49ACD-3308-4178-9D36-0768B0F04862}" type="datetimeFigureOut">
              <a:rPr lang="zh-TW" altLang="en-US" smtClean="0"/>
              <a:t>2025/9/22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056A4C3-8A20-4C6A-AFFB-D8BE49E0D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31C95C0-6C64-4F3A-8D05-9B9281B6A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E64EE-6418-4048-A30C-D303CA5A886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1504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CFEAC8-668C-484D-90E4-1AC906775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B94B688-1270-4927-A808-FFE8531BC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0CC8BB3-0A92-4DF7-89DC-51B28BE7F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49ACD-3308-4178-9D36-0768B0F04862}" type="datetimeFigureOut">
              <a:rPr lang="zh-TW" altLang="en-US" smtClean="0"/>
              <a:t>2025/9/22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E7CAFC7-0DD0-41AD-89D1-9019F9184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25EB854-084F-49B5-8F12-D25DED188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E64EE-6418-4048-A30C-D303CA5A886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6577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6D8668D-385A-4897-8B88-6E2F782589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FDBDC81-ACF7-4874-A23C-8D7A875143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A3F0CEB-AA42-4B04-93E8-476ABA2FF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49ACD-3308-4178-9D36-0768B0F04862}" type="datetimeFigureOut">
              <a:rPr lang="zh-TW" altLang="en-US" smtClean="0"/>
              <a:t>2025/9/22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1E14CAD-77E3-4828-9C33-996CF2E6C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7794A8E-7826-4E85-8729-F62DC5FEB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E64EE-6418-4048-A30C-D303CA5A886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6682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55A59EB-4941-4A14-AC88-C6B3B0203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96B3CAC-4351-4153-AF92-B7114452E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3D4D906-7943-4B75-8161-03F336C0FB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049ACD-3308-4178-9D36-0768B0F04862}" type="datetimeFigureOut">
              <a:rPr lang="zh-TW" altLang="en-US" smtClean="0"/>
              <a:t>2025/9/22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B38A7EE-CCEC-490B-BDE6-597AABCCA1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03CB813-0111-478E-8D77-62F8286587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9E64EE-6418-4048-A30C-D303CA5A886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466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fastapi.tiangolo.com/learn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7D8890-4533-4F90-9D29-AAEF0BFACA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err="1"/>
              <a:t>FastAPI</a:t>
            </a:r>
            <a:r>
              <a:rPr lang="zh-TW" altLang="en-US" dirty="0"/>
              <a:t>基本教學 </a:t>
            </a:r>
            <a:r>
              <a:rPr lang="en-US" altLang="zh-TW" dirty="0"/>
              <a:t>II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12EC46D-9EF6-43DB-9039-0AABFBAF37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>
                <a:hlinkClick r:id="rId2"/>
              </a:rPr>
              <a:t>https://fastapi.tiangolo.com/learn/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24254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DD274C-D303-4842-B069-26BA6EE5F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APIRouter</a:t>
            </a:r>
            <a:r>
              <a:rPr lang="zh-TW" altLang="en-US" dirty="0"/>
              <a:t>的使用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0C66EB-1930-4B7D-B2F7-FE38700B82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TW" altLang="en-US" dirty="0"/>
              <a:t>當需要定義的</a:t>
            </a:r>
            <a:r>
              <a:rPr lang="en-US" altLang="zh-TW" dirty="0"/>
              <a:t>route</a:t>
            </a:r>
            <a:r>
              <a:rPr lang="zh-TW" altLang="en-US" dirty="0"/>
              <a:t>數目變多，可以分開定義在不同檔案來管理</a:t>
            </a:r>
            <a:endParaRPr lang="en-US" altLang="zh-TW" dirty="0"/>
          </a:p>
          <a:p>
            <a:r>
              <a:rPr lang="zh-TW" altLang="en-US" dirty="0"/>
              <a:t>通常會建立一個目錄來存放個別的定義檔案，例如</a:t>
            </a:r>
            <a:br>
              <a:rPr lang="en-US" altLang="zh-TW" dirty="0"/>
            </a:br>
            <a:r>
              <a:rPr lang="en-US" altLang="zh-TW" dirty="0">
                <a:solidFill>
                  <a:srgbClr val="FF0000"/>
                </a:solidFill>
              </a:rPr>
              <a:t>routes\upload.py</a:t>
            </a:r>
            <a:r>
              <a:rPr lang="en-US" altLang="zh-TW" dirty="0"/>
              <a:t>, routes\dbQuery.py</a:t>
            </a:r>
          </a:p>
          <a:p>
            <a:r>
              <a:rPr lang="zh-TW" altLang="en-US" dirty="0"/>
              <a:t>定義方式</a:t>
            </a:r>
            <a:r>
              <a:rPr lang="en-US" altLang="zh-TW" dirty="0"/>
              <a:t>:</a:t>
            </a:r>
            <a:r>
              <a:rPr lang="zh-TW" altLang="en-US" dirty="0"/>
              <a:t> 例如在</a:t>
            </a:r>
            <a:r>
              <a:rPr lang="en-US" altLang="zh-TW" dirty="0"/>
              <a:t>upload.py</a:t>
            </a:r>
            <a:r>
              <a:rPr lang="zh-TW" altLang="en-US" dirty="0"/>
              <a:t>中</a:t>
            </a:r>
            <a:br>
              <a:rPr lang="en-US" altLang="zh-TW" dirty="0"/>
            </a:br>
            <a:r>
              <a:rPr lang="en-US" altLang="zh-TW" dirty="0"/>
              <a:t>from </a:t>
            </a:r>
            <a:r>
              <a:rPr lang="en-US" altLang="zh-TW" dirty="0" err="1"/>
              <a:t>fastapi</a:t>
            </a:r>
            <a:r>
              <a:rPr lang="en-US" altLang="zh-TW" dirty="0"/>
              <a:t> import </a:t>
            </a:r>
            <a:r>
              <a:rPr lang="en-US" altLang="zh-TW" dirty="0" err="1"/>
              <a:t>APIRouter</a:t>
            </a:r>
            <a:br>
              <a:rPr lang="en-US" altLang="zh-TW" dirty="0"/>
            </a:br>
            <a:r>
              <a:rPr lang="en-US" altLang="zh-TW" dirty="0">
                <a:solidFill>
                  <a:srgbClr val="FF0000"/>
                </a:solidFill>
              </a:rPr>
              <a:t>router</a:t>
            </a:r>
            <a:r>
              <a:rPr lang="en-US" altLang="zh-TW" dirty="0"/>
              <a:t> = </a:t>
            </a:r>
            <a:r>
              <a:rPr lang="en-US" altLang="zh-TW" dirty="0" err="1"/>
              <a:t>APIRouter</a:t>
            </a:r>
            <a:r>
              <a:rPr lang="en-US" altLang="zh-TW" dirty="0"/>
              <a:t>()</a:t>
            </a:r>
            <a:br>
              <a:rPr lang="en-US" altLang="zh-TW" dirty="0"/>
            </a:br>
            <a:r>
              <a:rPr lang="en-US" altLang="zh-TW" dirty="0"/>
              <a:t>@</a:t>
            </a:r>
            <a:r>
              <a:rPr lang="en-US" altLang="zh-TW" dirty="0">
                <a:solidFill>
                  <a:srgbClr val="FF0000"/>
                </a:solidFill>
              </a:rPr>
              <a:t>router</a:t>
            </a:r>
            <a:r>
              <a:rPr lang="en-US" altLang="zh-TW" dirty="0"/>
              <a:t>.get("/test")</a:t>
            </a:r>
            <a:br>
              <a:rPr lang="en-US" altLang="zh-TW" dirty="0"/>
            </a:br>
            <a:r>
              <a:rPr lang="en-US" altLang="zh-TW" dirty="0"/>
              <a:t>def </a:t>
            </a:r>
            <a:r>
              <a:rPr lang="en-US" altLang="zh-TW" dirty="0" err="1"/>
              <a:t>myFunc</a:t>
            </a:r>
            <a:r>
              <a:rPr lang="en-US" altLang="zh-TW" dirty="0"/>
              <a:t>(): </a:t>
            </a:r>
          </a:p>
          <a:p>
            <a:endParaRPr lang="en-US" altLang="zh-TW" dirty="0"/>
          </a:p>
          <a:p>
            <a:r>
              <a:rPr lang="zh-TW" altLang="en-US" dirty="0"/>
              <a:t>在</a:t>
            </a:r>
            <a:r>
              <a:rPr lang="en-US" altLang="zh-TW" dirty="0"/>
              <a:t>main.py</a:t>
            </a:r>
            <a:r>
              <a:rPr lang="zh-TW" altLang="en-US" dirty="0"/>
              <a:t>中如下處理，就可匯入成為 </a:t>
            </a:r>
            <a:r>
              <a:rPr lang="en-US" altLang="zh-TW" dirty="0"/>
              <a:t>"/</a:t>
            </a:r>
            <a:r>
              <a:rPr lang="en-US" altLang="zh-TW" dirty="0" err="1"/>
              <a:t>api</a:t>
            </a:r>
            <a:r>
              <a:rPr lang="en-US" altLang="zh-TW" dirty="0"/>
              <a:t>/test"</a:t>
            </a:r>
            <a:br>
              <a:rPr lang="en-US" altLang="zh-TW" dirty="0"/>
            </a:br>
            <a:r>
              <a:rPr lang="en-US" altLang="zh-TW" dirty="0"/>
              <a:t>from </a:t>
            </a:r>
            <a:r>
              <a:rPr lang="en-US" altLang="zh-TW" dirty="0" err="1">
                <a:solidFill>
                  <a:srgbClr val="FF0000"/>
                </a:solidFill>
              </a:rPr>
              <a:t>routes.upload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en-US" altLang="zh-TW" dirty="0"/>
              <a:t>import </a:t>
            </a:r>
            <a:r>
              <a:rPr lang="en-US" altLang="zh-TW" dirty="0">
                <a:solidFill>
                  <a:srgbClr val="FF0000"/>
                </a:solidFill>
              </a:rPr>
              <a:t>router</a:t>
            </a:r>
            <a:r>
              <a:rPr lang="en-US" altLang="zh-TW" dirty="0"/>
              <a:t> as </a:t>
            </a:r>
            <a:r>
              <a:rPr lang="en-US" altLang="zh-TW" dirty="0" err="1"/>
              <a:t>upload_router</a:t>
            </a:r>
            <a:br>
              <a:rPr lang="en-US" altLang="zh-TW" dirty="0"/>
            </a:br>
            <a:r>
              <a:rPr lang="en-US" altLang="zh-TW" dirty="0" err="1"/>
              <a:t>app.include_router</a:t>
            </a:r>
            <a:r>
              <a:rPr lang="en-US" altLang="zh-TW" dirty="0"/>
              <a:t>(</a:t>
            </a:r>
            <a:r>
              <a:rPr lang="en-US" altLang="zh-TW" dirty="0" err="1"/>
              <a:t>upload_router</a:t>
            </a:r>
            <a:r>
              <a:rPr lang="en-US" altLang="zh-TW" dirty="0"/>
              <a:t>, prefix="/</a:t>
            </a:r>
            <a:r>
              <a:rPr lang="en-US" altLang="zh-TW" dirty="0" err="1"/>
              <a:t>api</a:t>
            </a:r>
            <a:r>
              <a:rPr lang="en-US" altLang="zh-TW" dirty="0"/>
              <a:t>") 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76793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B8460D-CDDE-44A6-8ED3-3F7E38FD2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套表樣板</a:t>
            </a:r>
            <a:r>
              <a:rPr lang="en-US" altLang="zh-TW" dirty="0"/>
              <a:t>(templates)</a:t>
            </a:r>
            <a:r>
              <a:rPr lang="zh-TW" altLang="en-US" dirty="0"/>
              <a:t>的使用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19B64FD-80AC-482F-9A78-591FEA228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zh-TW" altLang="en-US" dirty="0"/>
              <a:t>內嵌套表語法的</a:t>
            </a:r>
            <a:r>
              <a:rPr lang="en-US" altLang="zh-TW" dirty="0"/>
              <a:t>HTML</a:t>
            </a:r>
            <a:r>
              <a:rPr lang="zh-TW" altLang="en-US" dirty="0"/>
              <a:t>檔案，可以將資料套印到</a:t>
            </a:r>
            <a:r>
              <a:rPr lang="en-US" altLang="zh-TW" dirty="0"/>
              <a:t>HTML</a:t>
            </a:r>
            <a:r>
              <a:rPr lang="zh-TW" altLang="en-US" dirty="0"/>
              <a:t>中。通常會將套表樣板檔案集中放在特定目錄下，例如</a:t>
            </a:r>
            <a:r>
              <a:rPr lang="en-US" altLang="zh-TW" dirty="0">
                <a:solidFill>
                  <a:srgbClr val="FF0000"/>
                </a:solidFill>
              </a:rPr>
              <a:t>templates</a:t>
            </a:r>
            <a:r>
              <a:rPr lang="en-US" altLang="zh-TW" dirty="0"/>
              <a:t>\temp.html</a:t>
            </a:r>
          </a:p>
          <a:p>
            <a:r>
              <a:rPr lang="zh-TW" altLang="en-US" dirty="0"/>
              <a:t>套表語法可以選擇使用第三方套件，常用的如</a:t>
            </a:r>
            <a:r>
              <a:rPr lang="en-US" altLang="zh-TW" dirty="0"/>
              <a:t>Jinja2</a:t>
            </a:r>
          </a:p>
          <a:p>
            <a:r>
              <a:rPr lang="zh-TW" altLang="en-US" dirty="0"/>
              <a:t>使用方法</a:t>
            </a:r>
            <a:r>
              <a:rPr lang="en-US" altLang="zh-TW" dirty="0"/>
              <a:t>:</a:t>
            </a:r>
            <a:r>
              <a:rPr lang="zh-TW" altLang="en-US" dirty="0"/>
              <a:t> 例如在</a:t>
            </a:r>
            <a:r>
              <a:rPr lang="en-US" altLang="zh-TW" dirty="0"/>
              <a:t>main.py</a:t>
            </a:r>
          </a:p>
          <a:p>
            <a:pPr marL="0" indent="0">
              <a:buNone/>
            </a:pPr>
            <a:r>
              <a:rPr lang="en-US" altLang="zh-TW" dirty="0"/>
              <a:t>from </a:t>
            </a:r>
            <a:r>
              <a:rPr lang="en-US" altLang="zh-TW" dirty="0" err="1"/>
              <a:t>fastapi</a:t>
            </a:r>
            <a:r>
              <a:rPr lang="en-US" altLang="zh-TW" dirty="0"/>
              <a:t> import </a:t>
            </a:r>
            <a:r>
              <a:rPr lang="en-US" altLang="zh-TW" dirty="0" err="1"/>
              <a:t>FastAPI,</a:t>
            </a:r>
            <a:r>
              <a:rPr lang="en-US" altLang="zh-TW" dirty="0" err="1">
                <a:solidFill>
                  <a:srgbClr val="FF0000"/>
                </a:solidFill>
              </a:rPr>
              <a:t>Request</a:t>
            </a:r>
            <a:endParaRPr lang="en-US" altLang="zh-TW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TW" dirty="0"/>
              <a:t>from </a:t>
            </a:r>
            <a:r>
              <a:rPr lang="en-US" altLang="zh-TW" dirty="0" err="1"/>
              <a:t>fastapi.templating</a:t>
            </a:r>
            <a:r>
              <a:rPr lang="en-US" altLang="zh-TW" dirty="0"/>
              <a:t> import Jinja2Templates</a:t>
            </a:r>
          </a:p>
          <a:p>
            <a:pPr marL="0" indent="0">
              <a:buNone/>
            </a:pPr>
            <a:r>
              <a:rPr lang="en-US" altLang="zh-TW" dirty="0"/>
              <a:t>template = Jinja2Templates(directory="</a:t>
            </a:r>
            <a:r>
              <a:rPr lang="en-US" altLang="zh-TW" dirty="0">
                <a:solidFill>
                  <a:srgbClr val="FF0000"/>
                </a:solidFill>
              </a:rPr>
              <a:t>templates</a:t>
            </a:r>
            <a:r>
              <a:rPr lang="en-US" altLang="zh-TW" dirty="0"/>
              <a:t>")</a:t>
            </a:r>
          </a:p>
          <a:p>
            <a:pPr marL="0" indent="0">
              <a:buNone/>
            </a:pPr>
            <a:r>
              <a:rPr lang="en-US" altLang="zh-TW" dirty="0"/>
              <a:t>app=</a:t>
            </a:r>
            <a:r>
              <a:rPr lang="en-US" altLang="zh-TW" dirty="0" err="1"/>
              <a:t>FastAPI</a:t>
            </a:r>
            <a:r>
              <a:rPr lang="en-US" altLang="zh-TW" dirty="0"/>
              <a:t>()</a:t>
            </a:r>
          </a:p>
          <a:p>
            <a:pPr marL="0" indent="0">
              <a:buNone/>
            </a:pPr>
            <a:r>
              <a:rPr lang="en-US" altLang="zh-TW" dirty="0"/>
              <a:t>@app.get("/url")</a:t>
            </a:r>
          </a:p>
          <a:p>
            <a:pPr marL="0" indent="0">
              <a:buNone/>
            </a:pPr>
            <a:r>
              <a:rPr lang="en-US" altLang="zh-TW" dirty="0"/>
              <a:t>def temp(</a:t>
            </a:r>
            <a:r>
              <a:rPr lang="en-US" altLang="zh-TW" dirty="0" err="1">
                <a:solidFill>
                  <a:srgbClr val="FF0000"/>
                </a:solidFill>
              </a:rPr>
              <a:t>req</a:t>
            </a:r>
            <a:r>
              <a:rPr lang="en-US" altLang="zh-TW" dirty="0" err="1"/>
              <a:t>:</a:t>
            </a:r>
            <a:r>
              <a:rPr lang="en-US" altLang="zh-TW" dirty="0" err="1">
                <a:solidFill>
                  <a:srgbClr val="FF0000"/>
                </a:solidFill>
              </a:rPr>
              <a:t>Request</a:t>
            </a:r>
            <a:r>
              <a:rPr lang="en-US" altLang="zh-TW" dirty="0"/>
              <a:t>):</a:t>
            </a:r>
          </a:p>
          <a:p>
            <a:pPr marL="0" indent="0">
              <a:buNone/>
            </a:pPr>
            <a:r>
              <a:rPr lang="en-US" altLang="zh-TW" dirty="0"/>
              <a:t>	data={"request":</a:t>
            </a:r>
            <a:r>
              <a:rPr lang="en-US" altLang="zh-TW" dirty="0">
                <a:solidFill>
                  <a:srgbClr val="FF0000"/>
                </a:solidFill>
              </a:rPr>
              <a:t>req</a:t>
            </a:r>
            <a:r>
              <a:rPr lang="en-US" altLang="zh-TW" dirty="0"/>
              <a:t>,"</a:t>
            </a:r>
            <a:r>
              <a:rPr lang="en-US" altLang="zh-TW" dirty="0" err="1"/>
              <a:t>realName</a:t>
            </a:r>
            <a:r>
              <a:rPr lang="en-US" altLang="zh-TW" dirty="0"/>
              <a:t>": "</a:t>
            </a:r>
            <a:r>
              <a:rPr lang="en-US" altLang="zh-TW" dirty="0" err="1"/>
              <a:t>aaaa</a:t>
            </a:r>
            <a:r>
              <a:rPr lang="en-US" altLang="zh-TW" dirty="0"/>
              <a:t>", "</a:t>
            </a:r>
            <a:r>
              <a:rPr lang="en-US" altLang="zh-TW" dirty="0" err="1"/>
              <a:t>nickName</a:t>
            </a:r>
            <a:r>
              <a:rPr lang="en-US" altLang="zh-TW" dirty="0"/>
              <a:t>": "</a:t>
            </a:r>
            <a:r>
              <a:rPr lang="en-US" altLang="zh-TW" dirty="0" err="1"/>
              <a:t>bbb</a:t>
            </a:r>
            <a:r>
              <a:rPr lang="en-US" altLang="zh-TW" dirty="0"/>
              <a:t>"}</a:t>
            </a:r>
          </a:p>
          <a:p>
            <a:pPr marL="0" indent="0">
              <a:buNone/>
            </a:pPr>
            <a:r>
              <a:rPr lang="en-US" altLang="zh-TW" dirty="0"/>
              <a:t>	return </a:t>
            </a:r>
            <a:r>
              <a:rPr lang="en-US" altLang="zh-TW" dirty="0" err="1"/>
              <a:t>template.TemplateResponse</a:t>
            </a:r>
            <a:r>
              <a:rPr lang="en-US" altLang="zh-TW" dirty="0"/>
              <a:t>("</a:t>
            </a:r>
            <a:r>
              <a:rPr lang="en-US" altLang="zh-TW" dirty="0" err="1"/>
              <a:t>temp.html",data</a:t>
            </a:r>
            <a:r>
              <a:rPr lang="en-US" altLang="zh-TW" dirty="0"/>
              <a:t>)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48626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B8460D-CDDE-44A6-8ED3-3F7E38FD2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套表樣板</a:t>
            </a:r>
            <a:r>
              <a:rPr lang="en-US" altLang="zh-TW" dirty="0"/>
              <a:t>(templates)</a:t>
            </a:r>
            <a:r>
              <a:rPr lang="zh-TW" altLang="en-US" dirty="0"/>
              <a:t>的使用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19B64FD-80AC-482F-9A78-591FEA228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en-US" dirty="0"/>
              <a:t>使用方法</a:t>
            </a:r>
            <a:r>
              <a:rPr lang="en-US" altLang="zh-TW" dirty="0"/>
              <a:t>:</a:t>
            </a:r>
            <a:r>
              <a:rPr lang="zh-TW" altLang="en-US" dirty="0"/>
              <a:t> 在</a:t>
            </a:r>
            <a:r>
              <a:rPr lang="en-US" altLang="zh-TW" dirty="0"/>
              <a:t>templates/temp.html</a:t>
            </a:r>
          </a:p>
          <a:p>
            <a:pPr marL="0" indent="0">
              <a:buNone/>
            </a:pPr>
            <a:r>
              <a:rPr lang="en-US" altLang="zh-TW" dirty="0"/>
              <a:t>&lt;h1&gt;my Real Name is </a:t>
            </a:r>
            <a:r>
              <a:rPr lang="en-US" altLang="zh-TW" dirty="0">
                <a:solidFill>
                  <a:srgbClr val="FF0000"/>
                </a:solidFill>
              </a:rPr>
              <a:t>{{</a:t>
            </a:r>
            <a:r>
              <a:rPr lang="en-US" altLang="zh-TW" dirty="0" err="1">
                <a:solidFill>
                  <a:srgbClr val="FF0000"/>
                </a:solidFill>
              </a:rPr>
              <a:t>realName</a:t>
            </a:r>
            <a:r>
              <a:rPr lang="en-US" altLang="zh-TW" dirty="0">
                <a:solidFill>
                  <a:srgbClr val="FF0000"/>
                </a:solidFill>
              </a:rPr>
              <a:t>}}</a:t>
            </a:r>
            <a:r>
              <a:rPr lang="en-US" altLang="zh-TW" dirty="0"/>
              <a:t>&lt;/h1&gt;</a:t>
            </a:r>
          </a:p>
          <a:p>
            <a:pPr marL="0" indent="0">
              <a:buNone/>
            </a:pPr>
            <a:r>
              <a:rPr lang="en-US" altLang="zh-TW" dirty="0"/>
              <a:t>&lt;button type="button" onclick="</a:t>
            </a:r>
            <a:r>
              <a:rPr lang="en-US" altLang="zh-TW" dirty="0" err="1"/>
              <a:t>showNickName</a:t>
            </a:r>
            <a:r>
              <a:rPr lang="en-US" altLang="zh-TW" dirty="0"/>
              <a:t>()"&gt;show nick name&lt;/button&gt;</a:t>
            </a:r>
          </a:p>
          <a:p>
            <a:pPr marL="0" indent="0">
              <a:buNone/>
            </a:pPr>
            <a:r>
              <a:rPr lang="en-US" altLang="zh-TW" dirty="0"/>
              <a:t>&lt;script&gt;</a:t>
            </a:r>
          </a:p>
          <a:p>
            <a:pPr marL="0" indent="0">
              <a:buNone/>
            </a:pPr>
            <a:r>
              <a:rPr lang="en-US" altLang="zh-TW" dirty="0"/>
              <a:t>function </a:t>
            </a:r>
            <a:r>
              <a:rPr lang="en-US" altLang="zh-TW" dirty="0" err="1"/>
              <a:t>showNickName</a:t>
            </a:r>
            <a:r>
              <a:rPr lang="en-US" altLang="zh-TW" dirty="0"/>
              <a:t>() {</a:t>
            </a:r>
          </a:p>
          <a:p>
            <a:pPr marL="0" indent="0">
              <a:buNone/>
            </a:pPr>
            <a:r>
              <a:rPr lang="en-US" altLang="zh-TW" dirty="0"/>
              <a:t>	let n='</a:t>
            </a:r>
            <a:r>
              <a:rPr lang="en-US" altLang="zh-TW" dirty="0">
                <a:solidFill>
                  <a:srgbClr val="FF0000"/>
                </a:solidFill>
              </a:rPr>
              <a:t>{{</a:t>
            </a:r>
            <a:r>
              <a:rPr lang="en-US" altLang="zh-TW" dirty="0" err="1">
                <a:solidFill>
                  <a:srgbClr val="FF0000"/>
                </a:solidFill>
              </a:rPr>
              <a:t>nickName</a:t>
            </a:r>
            <a:r>
              <a:rPr lang="en-US" altLang="zh-TW" dirty="0">
                <a:solidFill>
                  <a:srgbClr val="FF0000"/>
                </a:solidFill>
              </a:rPr>
              <a:t>}}</a:t>
            </a:r>
            <a:r>
              <a:rPr lang="en-US" altLang="zh-TW" dirty="0"/>
              <a:t>';</a:t>
            </a:r>
          </a:p>
          <a:p>
            <a:pPr marL="0" indent="0">
              <a:buNone/>
            </a:pPr>
            <a:r>
              <a:rPr lang="en-US" altLang="zh-TW" dirty="0"/>
              <a:t>	alert(n);</a:t>
            </a:r>
          </a:p>
          <a:p>
            <a:pPr marL="0" indent="0">
              <a:buNone/>
            </a:pPr>
            <a:r>
              <a:rPr lang="en-US" altLang="zh-TW" dirty="0"/>
              <a:t>}</a:t>
            </a:r>
          </a:p>
          <a:p>
            <a:pPr marL="0" indent="0">
              <a:buNone/>
            </a:pPr>
            <a:r>
              <a:rPr lang="en-US" altLang="zh-TW" dirty="0"/>
              <a:t>&lt;/script&gt;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87158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FA84B7-17DC-40A4-8FA3-3678E6C0A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Depends</a:t>
            </a:r>
            <a:r>
              <a:rPr lang="zh-TW" altLang="en-US" dirty="0"/>
              <a:t>的使用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0EF63D2-54BC-4665-9A9A-6D13D2AD6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可以將外部物件</a:t>
            </a:r>
            <a:r>
              <a:rPr lang="en-US" altLang="zh-TW" dirty="0"/>
              <a:t>(class)</a:t>
            </a:r>
            <a:r>
              <a:rPr lang="zh-TW" altLang="en-US" dirty="0"/>
              <a:t>、函數</a:t>
            </a:r>
            <a:r>
              <a:rPr lang="en-US" altLang="zh-TW" dirty="0"/>
              <a:t>(function)</a:t>
            </a:r>
            <a:r>
              <a:rPr lang="zh-TW" altLang="en-US" dirty="0"/>
              <a:t>等，注入</a:t>
            </a:r>
            <a:r>
              <a:rPr lang="en-US" altLang="zh-TW" dirty="0"/>
              <a:t>(inject)</a:t>
            </a:r>
            <a:r>
              <a:rPr lang="zh-TW" altLang="en-US" dirty="0"/>
              <a:t>到處理</a:t>
            </a:r>
            <a:r>
              <a:rPr lang="en-US" altLang="zh-TW" dirty="0"/>
              <a:t>route</a:t>
            </a:r>
            <a:r>
              <a:rPr lang="zh-TW" altLang="en-US" dirty="0"/>
              <a:t>的函數範疇</a:t>
            </a:r>
            <a:r>
              <a:rPr lang="en-US" altLang="zh-TW" dirty="0"/>
              <a:t>(scope)</a:t>
            </a:r>
            <a:r>
              <a:rPr lang="zh-TW" altLang="en-US" dirty="0"/>
              <a:t>中</a:t>
            </a:r>
            <a:endParaRPr lang="en-US" altLang="zh-TW" dirty="0"/>
          </a:p>
          <a:p>
            <a:r>
              <a:rPr lang="zh-TW" altLang="en-US" dirty="0"/>
              <a:t>可用來方便重複使用既有的物件、邏輯。由</a:t>
            </a:r>
            <a:r>
              <a:rPr lang="en-US" altLang="zh-TW" dirty="0" err="1"/>
              <a:t>fastAPI</a:t>
            </a:r>
            <a:r>
              <a:rPr lang="zh-TW" altLang="en-US" dirty="0"/>
              <a:t>代替你呼叫並注入函數範疇，不用重複在個別函數中呼叫或建立</a:t>
            </a:r>
            <a:endParaRPr lang="en-US" altLang="zh-TW" dirty="0"/>
          </a:p>
          <a:p>
            <a:r>
              <a:rPr lang="en-US" altLang="zh-TW" dirty="0" err="1"/>
              <a:t>fastAPI</a:t>
            </a:r>
            <a:r>
              <a:rPr lang="zh-TW" altLang="en-US" dirty="0"/>
              <a:t>內部對</a:t>
            </a:r>
            <a:r>
              <a:rPr lang="en-US" altLang="zh-TW" dirty="0"/>
              <a:t>Depends</a:t>
            </a:r>
            <a:r>
              <a:rPr lang="zh-TW" altLang="en-US" dirty="0"/>
              <a:t>有</a:t>
            </a:r>
            <a:r>
              <a:rPr lang="en-US" altLang="zh-TW" dirty="0"/>
              <a:t>cache</a:t>
            </a:r>
            <a:r>
              <a:rPr lang="zh-TW" altLang="en-US" dirty="0"/>
              <a:t>機制，加速程式的效率</a:t>
            </a:r>
            <a:endParaRPr lang="en-US" altLang="zh-TW" dirty="0"/>
          </a:p>
          <a:p>
            <a:r>
              <a:rPr lang="zh-TW" altLang="en-US" dirty="0"/>
              <a:t>很常用在登入身分檢查、資料庫連線、重複在不同函數中使用的檢查邏輯等</a:t>
            </a:r>
            <a:endParaRPr lang="en-US" altLang="zh-TW" dirty="0"/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046134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F9A928-5BF0-469A-B68A-7AD1EF4A1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連接資料庫的範例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69253DC-4E53-406F-A3F2-7F23FBAF7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參考範例程式之</a:t>
            </a:r>
            <a:r>
              <a:rPr lang="en-US" altLang="zh-TW" dirty="0"/>
              <a:t>db.py, routes\dbQuery.py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30458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CF7A85-34C5-45FB-9C75-ECD02834F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處理檔案上傳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37FA45-5330-4639-922C-BD0E888BA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zh-TW" dirty="0"/>
              <a:t>#To handle file upload, pip install python-multipart first</a:t>
            </a:r>
          </a:p>
          <a:p>
            <a:pPr marL="0" indent="0">
              <a:buNone/>
            </a:pPr>
            <a:r>
              <a:rPr lang="en-US" altLang="zh-TW" dirty="0"/>
              <a:t>from </a:t>
            </a:r>
            <a:r>
              <a:rPr lang="en-US" altLang="zh-TW" dirty="0" err="1"/>
              <a:t>fastapi</a:t>
            </a:r>
            <a:r>
              <a:rPr lang="en-US" altLang="zh-TW" dirty="0"/>
              <a:t> import </a:t>
            </a:r>
            <a:r>
              <a:rPr lang="en-US" altLang="zh-TW" dirty="0" err="1"/>
              <a:t>FastAPI</a:t>
            </a:r>
            <a:r>
              <a:rPr lang="en-US" altLang="zh-TW" dirty="0"/>
              <a:t>, </a:t>
            </a:r>
            <a:r>
              <a:rPr lang="en-US" altLang="zh-TW" dirty="0">
                <a:solidFill>
                  <a:srgbClr val="FF0000"/>
                </a:solidFill>
              </a:rPr>
              <a:t>File, </a:t>
            </a:r>
            <a:r>
              <a:rPr lang="en-US" altLang="zh-TW" dirty="0" err="1">
                <a:solidFill>
                  <a:srgbClr val="FF0000"/>
                </a:solidFill>
              </a:rPr>
              <a:t>UploadFile</a:t>
            </a:r>
            <a:endParaRPr lang="en-US" altLang="zh-TW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TW" dirty="0"/>
              <a:t>app = </a:t>
            </a:r>
            <a:r>
              <a:rPr lang="en-US" altLang="zh-TW" dirty="0" err="1"/>
              <a:t>FastAPI</a:t>
            </a:r>
            <a:r>
              <a:rPr lang="en-US" altLang="zh-TW" dirty="0"/>
              <a:t>()</a:t>
            </a:r>
          </a:p>
          <a:p>
            <a:pPr marL="0" indent="0">
              <a:buNone/>
            </a:pPr>
            <a:r>
              <a:rPr lang="en-US" altLang="zh-TW" dirty="0"/>
              <a:t>@</a:t>
            </a:r>
            <a:r>
              <a:rPr lang="en-US" altLang="zh-TW" dirty="0" err="1"/>
              <a:t>app.post</a:t>
            </a:r>
            <a:r>
              <a:rPr lang="en-US" altLang="zh-TW" dirty="0"/>
              <a:t>("/upload/")</a:t>
            </a:r>
          </a:p>
          <a:p>
            <a:pPr marL="0" indent="0">
              <a:buNone/>
            </a:pPr>
            <a:r>
              <a:rPr lang="en-US" altLang="zh-TW" dirty="0"/>
              <a:t>async def </a:t>
            </a:r>
            <a:r>
              <a:rPr lang="en-US" altLang="zh-TW" dirty="0" err="1"/>
              <a:t>upload_file</a:t>
            </a:r>
            <a:r>
              <a:rPr lang="en-US" altLang="zh-TW" dirty="0"/>
              <a:t>(</a:t>
            </a:r>
            <a:r>
              <a:rPr lang="en-US" altLang="zh-TW" dirty="0">
                <a:solidFill>
                  <a:srgbClr val="FF0000"/>
                </a:solidFill>
              </a:rPr>
              <a:t>file</a:t>
            </a:r>
            <a:r>
              <a:rPr lang="en-US" altLang="zh-TW" dirty="0"/>
              <a:t>: </a:t>
            </a:r>
            <a:r>
              <a:rPr lang="en-US" altLang="zh-TW" dirty="0" err="1"/>
              <a:t>UploadFile</a:t>
            </a:r>
            <a:r>
              <a:rPr lang="en-US" altLang="zh-TW" dirty="0"/>
              <a:t> = File(...)): </a:t>
            </a:r>
          </a:p>
          <a:p>
            <a:pPr marL="0" indent="0">
              <a:buNone/>
            </a:pPr>
            <a:r>
              <a:rPr lang="en-US" altLang="zh-TW" dirty="0"/>
              <a:t>	#</a:t>
            </a:r>
            <a:r>
              <a:rPr lang="en-US" altLang="zh-TW" dirty="0">
                <a:solidFill>
                  <a:srgbClr val="FF0000"/>
                </a:solidFill>
              </a:rPr>
              <a:t>file</a:t>
            </a:r>
            <a:r>
              <a:rPr lang="en-US" altLang="zh-TW" dirty="0"/>
              <a:t> =the name of the file field in posting form</a:t>
            </a:r>
          </a:p>
          <a:p>
            <a:pPr marL="0" indent="0">
              <a:buNone/>
            </a:pPr>
            <a:r>
              <a:rPr lang="en-US" altLang="zh-TW" dirty="0"/>
              <a:t>	 print(</a:t>
            </a:r>
            <a:r>
              <a:rPr lang="en-US" altLang="zh-TW" dirty="0" err="1"/>
              <a:t>file.content_type</a:t>
            </a:r>
            <a:r>
              <a:rPr lang="en-US" altLang="zh-TW" dirty="0"/>
              <a:t>)</a:t>
            </a:r>
          </a:p>
          <a:p>
            <a:pPr marL="0" indent="0">
              <a:buNone/>
            </a:pPr>
            <a:r>
              <a:rPr lang="en-US" altLang="zh-TW" dirty="0"/>
              <a:t>	contents = await </a:t>
            </a:r>
            <a:r>
              <a:rPr lang="en-US" altLang="zh-TW" dirty="0" err="1"/>
              <a:t>file.read</a:t>
            </a:r>
            <a:r>
              <a:rPr lang="en-US" altLang="zh-TW" dirty="0"/>
              <a:t>()</a:t>
            </a:r>
          </a:p>
          <a:p>
            <a:pPr marL="0" indent="0">
              <a:buNone/>
            </a:pPr>
            <a:r>
              <a:rPr lang="en-US" altLang="zh-TW" dirty="0"/>
              <a:t>	filename =</a:t>
            </a:r>
            <a:r>
              <a:rPr lang="en-US" altLang="zh-TW" dirty="0" err="1"/>
              <a:t>f"uploads</a:t>
            </a:r>
            <a:r>
              <a:rPr lang="en-US" altLang="zh-TW" dirty="0"/>
              <a:t>/{</a:t>
            </a:r>
            <a:r>
              <a:rPr lang="en-US" altLang="zh-TW" dirty="0" err="1"/>
              <a:t>file.filename</a:t>
            </a:r>
            <a:r>
              <a:rPr lang="en-US" altLang="zh-TW" dirty="0"/>
              <a:t>}" #</a:t>
            </a:r>
            <a:r>
              <a:rPr lang="zh-TW" altLang="en-US" dirty="0"/>
              <a:t>危險</a:t>
            </a:r>
            <a:r>
              <a:rPr lang="en-US" altLang="zh-TW" dirty="0"/>
              <a:t>!!!</a:t>
            </a:r>
            <a:r>
              <a:rPr lang="zh-TW" altLang="en-US" dirty="0"/>
              <a:t>檔名需要檢查以避免被駭客裝後門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	with open(filename, "</a:t>
            </a:r>
            <a:r>
              <a:rPr lang="en-US" altLang="zh-TW" dirty="0" err="1"/>
              <a:t>wb</a:t>
            </a:r>
            <a:r>
              <a:rPr lang="en-US" altLang="zh-TW" dirty="0"/>
              <a:t>") as f:</a:t>
            </a:r>
          </a:p>
          <a:p>
            <a:pPr marL="0" indent="0">
              <a:buNone/>
            </a:pPr>
            <a:r>
              <a:rPr lang="en-US" altLang="zh-TW" dirty="0"/>
              <a:t>		</a:t>
            </a:r>
            <a:r>
              <a:rPr lang="en-US" altLang="zh-TW" dirty="0" err="1"/>
              <a:t>f.write</a:t>
            </a:r>
            <a:r>
              <a:rPr lang="en-US" altLang="zh-TW" dirty="0"/>
              <a:t>(contents)</a:t>
            </a:r>
          </a:p>
          <a:p>
            <a:pPr marL="0" indent="0">
              <a:buNone/>
            </a:pPr>
            <a:r>
              <a:rPr lang="en-US" altLang="zh-TW" dirty="0"/>
              <a:t>	return {"filename": </a:t>
            </a:r>
            <a:r>
              <a:rPr lang="en-US" altLang="zh-TW" dirty="0" err="1"/>
              <a:t>file.filename</a:t>
            </a:r>
            <a:r>
              <a:rPr lang="en-US" altLang="zh-TW" dirty="0"/>
              <a:t>} </a:t>
            </a:r>
          </a:p>
          <a:p>
            <a:pPr marL="0" indent="0">
              <a:buNone/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95976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16A2A0-21BF-45BB-BBD7-89595521B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Middleware</a:t>
            </a:r>
            <a:r>
              <a:rPr lang="zh-TW" altLang="en-US" dirty="0"/>
              <a:t>的使用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EEA6A10-772F-4795-B5E3-79397A905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在</a:t>
            </a:r>
            <a:r>
              <a:rPr lang="en-US" altLang="zh-TW" dirty="0"/>
              <a:t>client request</a:t>
            </a:r>
            <a:r>
              <a:rPr lang="zh-TW" altLang="en-US" dirty="0"/>
              <a:t>跟</a:t>
            </a:r>
            <a:r>
              <a:rPr lang="en-US" altLang="zh-TW" dirty="0"/>
              <a:t>route</a:t>
            </a:r>
            <a:r>
              <a:rPr lang="zh-TW" altLang="en-US" dirty="0"/>
              <a:t>處理中間，加入一層中間層</a:t>
            </a:r>
            <a:r>
              <a:rPr lang="en-US" altLang="zh-TW" dirty="0"/>
              <a:t>(middleware)</a:t>
            </a:r>
            <a:r>
              <a:rPr lang="zh-TW" altLang="en-US" dirty="0"/>
              <a:t>，處理連線層級的事務</a:t>
            </a:r>
            <a:endParaRPr lang="en-US" altLang="zh-TW" dirty="0"/>
          </a:p>
          <a:p>
            <a:r>
              <a:rPr lang="zh-TW" altLang="en-US" dirty="0"/>
              <a:t>例如跨來源</a:t>
            </a:r>
            <a:r>
              <a:rPr lang="en-US" altLang="zh-TW" dirty="0"/>
              <a:t>request</a:t>
            </a:r>
            <a:r>
              <a:rPr lang="zh-TW" altLang="en-US" dirty="0"/>
              <a:t>的管理</a:t>
            </a:r>
            <a:r>
              <a:rPr lang="en-US" altLang="zh-TW" dirty="0"/>
              <a:t>(CORS), cookie/session</a:t>
            </a:r>
            <a:r>
              <a:rPr lang="zh-TW" altLang="en-US" dirty="0"/>
              <a:t>機制的管理等</a:t>
            </a:r>
          </a:p>
        </p:txBody>
      </p:sp>
    </p:spTree>
    <p:extLst>
      <p:ext uri="{BB962C8B-B14F-4D97-AF65-F5344CB8AC3E}">
        <p14:creationId xmlns:p14="http://schemas.microsoft.com/office/powerpoint/2010/main" val="2295132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F8E2E3-4EA2-4873-8742-D0B63F80E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Session</a:t>
            </a:r>
            <a:r>
              <a:rPr lang="zh-TW" altLang="en-US" dirty="0"/>
              <a:t> </a:t>
            </a:r>
            <a:r>
              <a:rPr lang="en-US" altLang="zh-TW" dirty="0"/>
              <a:t>Middleware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0CF5122-0830-4E3D-BEAA-FFF02090A3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from </a:t>
            </a:r>
            <a:r>
              <a:rPr lang="en-US" altLang="zh-TW" dirty="0" err="1"/>
              <a:t>starlette.middleware.sessions</a:t>
            </a:r>
            <a:r>
              <a:rPr lang="en-US" altLang="zh-TW" dirty="0"/>
              <a:t> import </a:t>
            </a:r>
            <a:r>
              <a:rPr lang="en-US" altLang="zh-TW" dirty="0" err="1"/>
              <a:t>SessionMiddleware</a:t>
            </a:r>
            <a:endParaRPr lang="en-US" altLang="zh-TW" dirty="0"/>
          </a:p>
          <a:p>
            <a:r>
              <a:rPr lang="en-US" altLang="zh-TW" dirty="0" err="1"/>
              <a:t>app.add_middleware</a:t>
            </a:r>
            <a:r>
              <a:rPr lang="en-US" altLang="zh-TW" dirty="0"/>
              <a:t>(</a:t>
            </a:r>
          </a:p>
          <a:p>
            <a:pPr marL="0" indent="0">
              <a:buNone/>
            </a:pPr>
            <a:r>
              <a:rPr lang="en-US" altLang="zh-TW" dirty="0"/>
              <a:t>	</a:t>
            </a:r>
            <a:r>
              <a:rPr lang="en-US" altLang="zh-TW" dirty="0" err="1"/>
              <a:t>SessionMiddleware</a:t>
            </a:r>
            <a:r>
              <a:rPr lang="en-US" altLang="zh-TW" dirty="0"/>
              <a:t>,</a:t>
            </a:r>
            <a:br>
              <a:rPr lang="en-US" altLang="zh-TW" dirty="0"/>
            </a:br>
            <a:r>
              <a:rPr lang="en-US" altLang="zh-TW" dirty="0"/>
              <a:t>	</a:t>
            </a:r>
            <a:r>
              <a:rPr lang="en-US" altLang="zh-TW" dirty="0" err="1"/>
              <a:t>secret_key</a:t>
            </a:r>
            <a:r>
              <a:rPr lang="en-US" altLang="zh-TW" dirty="0"/>
              <a:t>="sdf#F123dS",</a:t>
            </a:r>
            <a:br>
              <a:rPr lang="en-US" altLang="zh-TW" dirty="0"/>
            </a:br>
            <a:r>
              <a:rPr lang="en-US" altLang="zh-TW" dirty="0"/>
              <a:t>	</a:t>
            </a:r>
            <a:r>
              <a:rPr lang="en-US" altLang="zh-TW" dirty="0" err="1"/>
              <a:t>max_age</a:t>
            </a:r>
            <a:r>
              <a:rPr lang="en-US" altLang="zh-TW" dirty="0"/>
              <a:t>=None, #86400,  # 1 day</a:t>
            </a:r>
            <a:br>
              <a:rPr lang="en-US" altLang="zh-TW" dirty="0"/>
            </a:br>
            <a:r>
              <a:rPr lang="en-US" altLang="zh-TW" dirty="0"/>
              <a:t>	</a:t>
            </a:r>
            <a:r>
              <a:rPr lang="en-US" altLang="zh-TW" dirty="0" err="1"/>
              <a:t>same_site</a:t>
            </a:r>
            <a:r>
              <a:rPr lang="en-US" altLang="zh-TW" dirty="0"/>
              <a:t>="lax",  # Options: 'lax', 'strict', 'none’</a:t>
            </a:r>
            <a:br>
              <a:rPr lang="en-US" altLang="zh-TW" dirty="0"/>
            </a:br>
            <a:r>
              <a:rPr lang="en-US" altLang="zh-TW" dirty="0"/>
              <a:t>	</a:t>
            </a:r>
            <a:r>
              <a:rPr lang="en-US" altLang="zh-TW" dirty="0" err="1"/>
              <a:t>https_only</a:t>
            </a:r>
            <a:r>
              <a:rPr lang="en-US" altLang="zh-TW" dirty="0"/>
              <a:t>=False,  # Set to True in production with HTTPS,</a:t>
            </a:r>
            <a:br>
              <a:rPr lang="en-US" altLang="zh-TW" dirty="0"/>
            </a:br>
            <a:r>
              <a:rPr lang="en-US" altLang="zh-TW" dirty="0"/>
              <a:t>)</a:t>
            </a:r>
          </a:p>
          <a:p>
            <a:r>
              <a:rPr lang="zh-TW" altLang="en-US" dirty="0"/>
              <a:t>之後可以使用 </a:t>
            </a:r>
            <a:r>
              <a:rPr lang="en-US" altLang="zh-TW" dirty="0" err="1"/>
              <a:t>request.session</a:t>
            </a:r>
            <a:r>
              <a:rPr lang="en-US" altLang="zh-TW" dirty="0"/>
              <a:t>["</a:t>
            </a:r>
            <a:r>
              <a:rPr lang="zh-TW" altLang="en-US" dirty="0"/>
              <a:t>變數名稱</a:t>
            </a:r>
            <a:r>
              <a:rPr lang="en-US" altLang="zh-TW" dirty="0"/>
              <a:t>"]=</a:t>
            </a:r>
            <a:r>
              <a:rPr lang="zh-TW" altLang="en-US" dirty="0"/>
              <a:t>值 來設定變數</a:t>
            </a:r>
            <a:endParaRPr lang="en-US" altLang="zh-TW" dirty="0"/>
          </a:p>
          <a:p>
            <a:r>
              <a:rPr lang="zh-TW" altLang="en-US" dirty="0"/>
              <a:t>使用 </a:t>
            </a:r>
            <a:r>
              <a:rPr lang="en-US" altLang="zh-TW" dirty="0" err="1"/>
              <a:t>request.session.get</a:t>
            </a:r>
            <a:r>
              <a:rPr lang="en-US" altLang="zh-TW" dirty="0"/>
              <a:t>("</a:t>
            </a:r>
            <a:r>
              <a:rPr lang="zh-TW" altLang="en-US" dirty="0"/>
              <a:t>變數名稱</a:t>
            </a:r>
            <a:r>
              <a:rPr lang="en-US" altLang="zh-TW" dirty="0"/>
              <a:t>") </a:t>
            </a:r>
            <a:r>
              <a:rPr lang="zh-TW" altLang="en-US" dirty="0"/>
              <a:t>來取得變數值</a:t>
            </a:r>
          </a:p>
        </p:txBody>
      </p:sp>
    </p:spTree>
    <p:extLst>
      <p:ext uri="{BB962C8B-B14F-4D97-AF65-F5344CB8AC3E}">
        <p14:creationId xmlns:p14="http://schemas.microsoft.com/office/powerpoint/2010/main" val="4214611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B848ED-3494-4DD8-9524-1076044BC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</a:t>
            </a:r>
            <a:r>
              <a:rPr lang="en-US" altLang="zh-TW" dirty="0"/>
              <a:t>session </a:t>
            </a:r>
            <a:r>
              <a:rPr lang="zh-TW" altLang="en-US" dirty="0"/>
              <a:t>建立登入機制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790E8B-BD9E-4D16-A226-1B9ED829C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參考 </a:t>
            </a:r>
            <a:r>
              <a:rPr lang="en-US" altLang="zh-TW" dirty="0"/>
              <a:t>sessionLogin.py, www/loginForm.html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48121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D73BC7C-2313-46D3-8921-D62463A9C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CORS setting (if needed)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0BD287B-1C3A-4CD9-9274-C520137F6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/>
              <a:t>from </a:t>
            </a:r>
            <a:r>
              <a:rPr lang="en-US" altLang="zh-TW" dirty="0" err="1"/>
              <a:t>fastapi.middleware.cors</a:t>
            </a:r>
            <a:r>
              <a:rPr lang="en-US" altLang="zh-TW" dirty="0"/>
              <a:t> import </a:t>
            </a:r>
            <a:r>
              <a:rPr lang="en-US" altLang="zh-TW" dirty="0" err="1"/>
              <a:t>CORSMiddleware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 err="1"/>
              <a:t>app.add_middleware</a:t>
            </a:r>
            <a:r>
              <a:rPr lang="en-US" altLang="zh-TW" dirty="0"/>
              <a:t>(</a:t>
            </a:r>
          </a:p>
          <a:p>
            <a:pPr marL="0" indent="0">
              <a:buNone/>
            </a:pPr>
            <a:r>
              <a:rPr lang="en-US" altLang="zh-TW" dirty="0"/>
              <a:t>	</a:t>
            </a:r>
            <a:r>
              <a:rPr lang="en-US" altLang="zh-TW" dirty="0" err="1"/>
              <a:t>CORSMiddleware</a:t>
            </a:r>
            <a:r>
              <a:rPr lang="en-US" altLang="zh-TW" dirty="0"/>
              <a:t>,</a:t>
            </a:r>
          </a:p>
          <a:p>
            <a:pPr marL="0" indent="0">
              <a:buNone/>
            </a:pPr>
            <a:r>
              <a:rPr lang="en-US" altLang="zh-TW" dirty="0"/>
              <a:t>	</a:t>
            </a:r>
            <a:r>
              <a:rPr lang="en-US" altLang="zh-TW" dirty="0" err="1"/>
              <a:t>allow_origins</a:t>
            </a:r>
            <a:r>
              <a:rPr lang="en-US" altLang="zh-TW" dirty="0"/>
              <a:t>=["http://localhost:80"],  # frontend origin</a:t>
            </a:r>
          </a:p>
          <a:p>
            <a:pPr marL="0" indent="0">
              <a:buNone/>
            </a:pPr>
            <a:r>
              <a:rPr lang="en-US" altLang="zh-TW" dirty="0"/>
              <a:t>	</a:t>
            </a:r>
            <a:r>
              <a:rPr lang="en-US" altLang="zh-TW" dirty="0" err="1"/>
              <a:t>allow_methods</a:t>
            </a:r>
            <a:r>
              <a:rPr lang="en-US" altLang="zh-TW" dirty="0"/>
              <a:t>=["*"],</a:t>
            </a:r>
          </a:p>
          <a:p>
            <a:pPr marL="0" indent="0">
              <a:buNone/>
            </a:pPr>
            <a:r>
              <a:rPr lang="en-US" altLang="zh-TW" dirty="0"/>
              <a:t>	</a:t>
            </a:r>
            <a:r>
              <a:rPr lang="en-US" altLang="zh-TW" dirty="0" err="1"/>
              <a:t>allow_headers</a:t>
            </a:r>
            <a:r>
              <a:rPr lang="en-US" altLang="zh-TW" dirty="0"/>
              <a:t>=["*"],</a:t>
            </a:r>
          </a:p>
          <a:p>
            <a:pPr marL="0" indent="0">
              <a:buNone/>
            </a:pPr>
            <a:r>
              <a:rPr lang="en-US" altLang="zh-TW" dirty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493368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BA11AB-D93F-4B77-B067-1F612155E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Interpret request body as json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7FD9AFF-5B55-4E80-92D5-976BA79AEB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/>
              <a:t>from </a:t>
            </a:r>
            <a:r>
              <a:rPr lang="en-US" altLang="zh-TW" dirty="0" err="1"/>
              <a:t>fastapi</a:t>
            </a:r>
            <a:r>
              <a:rPr lang="en-US" altLang="zh-TW" dirty="0"/>
              <a:t> import Request, </a:t>
            </a:r>
            <a:r>
              <a:rPr lang="en-US" altLang="zh-TW" dirty="0" err="1"/>
              <a:t>FastAPI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@</a:t>
            </a:r>
            <a:r>
              <a:rPr lang="en-US" altLang="zh-TW" dirty="0" err="1"/>
              <a:t>app.post</a:t>
            </a:r>
            <a:r>
              <a:rPr lang="en-US" altLang="zh-TW" dirty="0"/>
              <a:t>("/</a:t>
            </a:r>
            <a:r>
              <a:rPr lang="en-US" altLang="zh-TW" dirty="0" err="1"/>
              <a:t>dummypath</a:t>
            </a:r>
            <a:r>
              <a:rPr lang="en-US" altLang="zh-TW" dirty="0"/>
              <a:t>")</a:t>
            </a:r>
          </a:p>
          <a:p>
            <a:pPr marL="0" indent="0">
              <a:buNone/>
            </a:pPr>
            <a:r>
              <a:rPr lang="en-US" altLang="zh-TW" dirty="0"/>
              <a:t>async def </a:t>
            </a:r>
            <a:r>
              <a:rPr lang="en-US" altLang="zh-TW" dirty="0" err="1"/>
              <a:t>get_body</a:t>
            </a:r>
            <a:r>
              <a:rPr lang="en-US" altLang="zh-TW" dirty="0"/>
              <a:t>(request: Request):</a:t>
            </a:r>
          </a:p>
          <a:p>
            <a:pPr marL="0" indent="0">
              <a:buNone/>
            </a:pPr>
            <a:r>
              <a:rPr lang="en-US" altLang="zh-TW" dirty="0"/>
              <a:t>    return await </a:t>
            </a:r>
            <a:r>
              <a:rPr lang="en-US" altLang="zh-TW" dirty="0" err="1"/>
              <a:t>request.json</a:t>
            </a:r>
            <a:r>
              <a:rPr lang="en-US" altLang="zh-TW" dirty="0"/>
              <a:t>()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558843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10D6F6-CB2B-43EB-98C3-42A819CA0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整合範例</a:t>
            </a:r>
            <a:r>
              <a:rPr lang="en-US" altLang="zh-TW" dirty="0"/>
              <a:t>:</a:t>
            </a:r>
            <a:r>
              <a:rPr lang="zh-TW" altLang="en-US" dirty="0"/>
              <a:t>同時包含表單、網址、與</a:t>
            </a:r>
            <a:r>
              <a:rPr lang="en-US" altLang="zh-TW" dirty="0"/>
              <a:t>query</a:t>
            </a:r>
            <a:r>
              <a:rPr lang="zh-TW" altLang="en-US" dirty="0"/>
              <a:t> </a:t>
            </a:r>
            <a:r>
              <a:rPr lang="en-US" altLang="zh-TW" dirty="0"/>
              <a:t>string</a:t>
            </a:r>
            <a:r>
              <a:rPr lang="zh-TW" altLang="en-US" dirty="0"/>
              <a:t>參數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AE22F53-8C11-49C4-A936-9CC182C34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altLang="zh-TW" dirty="0"/>
              <a:t>from typing import Annotated</a:t>
            </a:r>
          </a:p>
          <a:p>
            <a:pPr marL="0" indent="0">
              <a:buNone/>
            </a:pPr>
            <a:r>
              <a:rPr lang="en-US" altLang="zh-TW" dirty="0"/>
              <a:t>from </a:t>
            </a:r>
            <a:r>
              <a:rPr lang="en-US" altLang="zh-TW" dirty="0" err="1"/>
              <a:t>pydantic</a:t>
            </a:r>
            <a:r>
              <a:rPr lang="en-US" altLang="zh-TW" dirty="0"/>
              <a:t> import </a:t>
            </a:r>
            <a:r>
              <a:rPr lang="en-US" altLang="zh-TW" dirty="0" err="1"/>
              <a:t>BaseModel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class </a:t>
            </a:r>
            <a:r>
              <a:rPr lang="en-US" altLang="zh-TW" dirty="0" err="1"/>
              <a:t>loginData</a:t>
            </a:r>
            <a:r>
              <a:rPr lang="en-US" altLang="zh-TW" dirty="0"/>
              <a:t>(</a:t>
            </a:r>
            <a:r>
              <a:rPr lang="en-US" altLang="zh-TW" dirty="0" err="1"/>
              <a:t>BaseModel</a:t>
            </a:r>
            <a:r>
              <a:rPr lang="en-US" altLang="zh-TW" dirty="0"/>
              <a:t>):</a:t>
            </a:r>
          </a:p>
          <a:p>
            <a:pPr marL="0" indent="0">
              <a:buNone/>
            </a:pPr>
            <a:r>
              <a:rPr lang="en-US" altLang="zh-TW" dirty="0"/>
              <a:t>    username: str</a:t>
            </a:r>
            <a:endParaRPr lang="zh-TW" altLang="en-US" dirty="0"/>
          </a:p>
          <a:p>
            <a:pPr marL="0" indent="0">
              <a:buNone/>
            </a:pPr>
            <a:r>
              <a:rPr lang="zh-TW" altLang="en-US" dirty="0"/>
              <a:t>    </a:t>
            </a:r>
            <a:r>
              <a:rPr lang="en-US" altLang="zh-TW" dirty="0"/>
              <a:t>password: str</a:t>
            </a:r>
          </a:p>
          <a:p>
            <a:pPr marL="0" indent="0">
              <a:buNone/>
            </a:pPr>
            <a:r>
              <a:rPr lang="zh-TW" altLang="en-US" dirty="0"/>
              <a:t>    </a:t>
            </a:r>
            <a:r>
              <a:rPr lang="en-US" altLang="zh-TW" dirty="0"/>
              <a:t>optional: str | None=None</a:t>
            </a:r>
            <a:endParaRPr lang="zh-TW" altLang="en-US" dirty="0"/>
          </a:p>
          <a:p>
            <a:pPr marL="0" indent="0">
              <a:buNone/>
            </a:pPr>
            <a:r>
              <a:rPr lang="zh-TW" altLang="en-US" dirty="0"/>
              <a:t>    </a:t>
            </a:r>
            <a:r>
              <a:rPr lang="en-US" altLang="zh-TW" dirty="0" err="1"/>
              <a:t>withDefault</a:t>
            </a:r>
            <a:r>
              <a:rPr lang="en-US" altLang="zh-TW" dirty="0"/>
              <a:t>: int=0</a:t>
            </a:r>
          </a:p>
          <a:p>
            <a:pPr marL="0" indent="0">
              <a:buNone/>
            </a:pPr>
            <a:r>
              <a:rPr lang="en-US" altLang="zh-TW" dirty="0"/>
              <a:t>@app.post("/login1/{urlItem}")</a:t>
            </a:r>
          </a:p>
          <a:p>
            <a:pPr marL="0" indent="0">
              <a:buNone/>
            </a:pPr>
            <a:r>
              <a:rPr lang="en-US" altLang="zh-TW" dirty="0"/>
              <a:t>async def login1(</a:t>
            </a:r>
            <a:r>
              <a:rPr lang="en-US" altLang="zh-TW" dirty="0" err="1"/>
              <a:t>urlItem</a:t>
            </a:r>
            <a:r>
              <a:rPr lang="en-US" altLang="zh-TW" dirty="0"/>
              <a:t>: str, item: </a:t>
            </a:r>
            <a:r>
              <a:rPr lang="en-US" altLang="zh-TW" dirty="0">
                <a:solidFill>
                  <a:srgbClr val="FF0000"/>
                </a:solidFill>
              </a:rPr>
              <a:t>Annotated</a:t>
            </a:r>
            <a:r>
              <a:rPr lang="en-US" altLang="zh-TW" dirty="0"/>
              <a:t>[</a:t>
            </a:r>
            <a:r>
              <a:rPr lang="en-US" altLang="zh-TW" dirty="0" err="1">
                <a:solidFill>
                  <a:srgbClr val="FF0000"/>
                </a:solidFill>
              </a:rPr>
              <a:t>loginData</a:t>
            </a:r>
            <a:r>
              <a:rPr lang="en-US" altLang="zh-TW" dirty="0"/>
              <a:t>, </a:t>
            </a:r>
            <a:r>
              <a:rPr lang="en-US" altLang="zh-TW" dirty="0">
                <a:solidFill>
                  <a:srgbClr val="FF0000"/>
                </a:solidFill>
              </a:rPr>
              <a:t>Form()</a:t>
            </a:r>
            <a:r>
              <a:rPr lang="en-US" altLang="zh-TW" dirty="0"/>
              <a:t>], q:int | None=None):</a:t>
            </a:r>
          </a:p>
          <a:p>
            <a:pPr marL="0" indent="0">
              <a:buNone/>
            </a:pPr>
            <a:r>
              <a:rPr lang="en-US" altLang="zh-TW" dirty="0"/>
              <a:t>	#</a:t>
            </a:r>
            <a:r>
              <a:rPr lang="en-US" altLang="zh-TW" dirty="0" err="1"/>
              <a:t>urlItem</a:t>
            </a:r>
            <a:r>
              <a:rPr lang="en-US" altLang="zh-TW" dirty="0"/>
              <a:t>: from </a:t>
            </a:r>
            <a:r>
              <a:rPr lang="en-US" altLang="zh-TW" dirty="0" err="1"/>
              <a:t>url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	#item: from form data, unpacked to </a:t>
            </a:r>
            <a:r>
              <a:rPr lang="en-US" altLang="zh-TW" dirty="0" err="1"/>
              <a:t>dict</a:t>
            </a:r>
            <a:r>
              <a:rPr lang="en-US" altLang="zh-TW" dirty="0"/>
              <a:t> with **</a:t>
            </a:r>
            <a:r>
              <a:rPr lang="en-US" altLang="zh-TW" dirty="0" err="1"/>
              <a:t>item.dict</a:t>
            </a:r>
            <a:r>
              <a:rPr lang="en-US" altLang="zh-TW" dirty="0"/>
              <a:t>()</a:t>
            </a:r>
          </a:p>
          <a:p>
            <a:pPr marL="0" indent="0">
              <a:buNone/>
            </a:pPr>
            <a:r>
              <a:rPr lang="en-US" altLang="zh-TW" dirty="0"/>
              <a:t>	#q: from query string</a:t>
            </a:r>
          </a:p>
          <a:p>
            <a:pPr marL="0" indent="0">
              <a:buNone/>
            </a:pPr>
            <a:r>
              <a:rPr lang="en-US" altLang="zh-TW" dirty="0"/>
              <a:t>    return {"</a:t>
            </a:r>
            <a:r>
              <a:rPr lang="en-US" altLang="zh-TW" dirty="0" err="1"/>
              <a:t>urlItem</a:t>
            </a:r>
            <a:r>
              <a:rPr lang="en-US" altLang="zh-TW" dirty="0"/>
              <a:t>": </a:t>
            </a:r>
            <a:r>
              <a:rPr lang="en-US" altLang="zh-TW" dirty="0" err="1"/>
              <a:t>urlItem</a:t>
            </a:r>
            <a:r>
              <a:rPr lang="en-US" altLang="zh-TW" dirty="0"/>
              <a:t>, "</a:t>
            </a:r>
            <a:r>
              <a:rPr lang="en-US" altLang="zh-TW" dirty="0" err="1"/>
              <a:t>queryStr</a:t>
            </a:r>
            <a:r>
              <a:rPr lang="en-US" altLang="zh-TW" dirty="0"/>
              <a:t>": q, **</a:t>
            </a:r>
            <a:r>
              <a:rPr lang="en-US" altLang="zh-TW" dirty="0" err="1"/>
              <a:t>item.dict</a:t>
            </a:r>
            <a:r>
              <a:rPr lang="en-US" altLang="zh-TW" dirty="0"/>
              <a:t>()}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817202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734</TotalTime>
  <Words>944</Words>
  <Application>Microsoft Office PowerPoint</Application>
  <PresentationFormat>寬螢幕</PresentationFormat>
  <Paragraphs>89</Paragraphs>
  <Slides>13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佈景主題</vt:lpstr>
      <vt:lpstr>FastAPI基本教學 II</vt:lpstr>
      <vt:lpstr>APIRouter的使用</vt:lpstr>
      <vt:lpstr>套表樣板(templates)的使用</vt:lpstr>
      <vt:lpstr>套表樣板(templates)的使用</vt:lpstr>
      <vt:lpstr>Depends的使用</vt:lpstr>
      <vt:lpstr>連接資料庫的範例</vt:lpstr>
      <vt:lpstr>處理檔案上傳</vt:lpstr>
      <vt:lpstr>Middleware的使用</vt:lpstr>
      <vt:lpstr>Session Middleware</vt:lpstr>
      <vt:lpstr>使用session 建立登入機制</vt:lpstr>
      <vt:lpstr>CORS setting (if needed)</vt:lpstr>
      <vt:lpstr>Interpret request body as json</vt:lpstr>
      <vt:lpstr>整合範例:同時包含表單、網址、與query string參數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FastAPI基本教學</dc:title>
  <dc:creator>buddhist</dc:creator>
  <cp:lastModifiedBy>buddhist</cp:lastModifiedBy>
  <cp:revision>95</cp:revision>
  <dcterms:created xsi:type="dcterms:W3CDTF">2025-06-24T10:11:27Z</dcterms:created>
  <dcterms:modified xsi:type="dcterms:W3CDTF">2025-09-22T15:36:48Z</dcterms:modified>
</cp:coreProperties>
</file>